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F8"/>
    <a:srgbClr val="F8F7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19"/>
    <p:restoredTop sz="75787"/>
  </p:normalViewPr>
  <p:slideViewPr>
    <p:cSldViewPr snapToGrid="0">
      <p:cViewPr varScale="1">
        <p:scale>
          <a:sx n="160" d="100"/>
          <a:sy n="160" d="100"/>
        </p:scale>
        <p:origin x="19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F9FA63-8525-D240-89DB-D5A6351FFA28}" type="datetimeFigureOut">
              <a:rPr lang="en-US" smtClean="0"/>
              <a:t>10/3/26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053F9F-76E0-2E4B-A209-558949954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61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/>
              <a:t>Hello. My name is Leo Luera, and today I'm presenting my Project 1, Milestone 3 work for predicting NBA player injury risk from in-season workload patterns. I’ll be walking through the business problem, how I built and cleaned the data, the modeling approach, what the results actually show, and what I'd recommend doing next.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53F9F-76E0-2E4B-A209-558949954B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40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Let's start with why this matters. NBA teams invest heavily in load management, such as sports science staff, rest days, minutes restrictions — but they still don't have a simple, data-driven way to flag which </a:t>
            </a:r>
            <a:r>
              <a:rPr lang="en-US" i="1" dirty="0"/>
              <a:t>specific</a:t>
            </a:r>
            <a:r>
              <a:rPr lang="en-US" dirty="0"/>
              <a:t> player is entering a higher-risk window based on their own recent workload. Most of what teams do today is based on general policy, not individual signals.</a:t>
            </a:r>
          </a:p>
          <a:p>
            <a:pPr rtl="0"/>
            <a:endParaRPr lang="en-US" dirty="0"/>
          </a:p>
          <a:p>
            <a:pPr rtl="0"/>
            <a:r>
              <a:rPr lang="en-US" dirty="0"/>
              <a:t>What makes this especially interesting is that the NBA's own analytics group looked at roughly 150 players per season from 2014 to 2023, and found </a:t>
            </a:r>
            <a:r>
              <a:rPr lang="en-US" i="1" dirty="0"/>
              <a:t>no</a:t>
            </a:r>
            <a:r>
              <a:rPr lang="en-US" dirty="0"/>
              <a:t> significant correlation between game frequency, schedule density, or cumulative participation and injury. </a:t>
            </a:r>
          </a:p>
          <a:p>
            <a:pPr rtl="0"/>
            <a:endParaRPr lang="en-US" dirty="0"/>
          </a:p>
          <a:p>
            <a:pPr rtl="0"/>
            <a:r>
              <a:rPr lang="en-US" dirty="0"/>
              <a:t>That's a pretty surprising, contested finding — it runs counter to a lot of the assumptions behind load management. So, I wanted to independently test that at the player level, using public data.</a:t>
            </a:r>
          </a:p>
          <a:p>
            <a:pPr rtl="0"/>
            <a:endParaRPr lang="en-US" dirty="0"/>
          </a:p>
          <a:p>
            <a:pPr rtl="0"/>
            <a:r>
              <a:rPr lang="en-US" dirty="0"/>
              <a:t>That led to three research questions: First, can a player's recent workload actually predict elevated injury risk in the games that follow? Second, which workload features matter most — minutes, rest, or schedule density? And third, do my findings support or contradict the NBA's own conclusion?</a:t>
            </a:r>
          </a:p>
          <a:p>
            <a:pPr rtl="0"/>
            <a:endParaRPr lang="en-US" dirty="0"/>
          </a:p>
          <a:p>
            <a:pPr rtl="0"/>
            <a:r>
              <a:rPr lang="en-US" dirty="0"/>
              <a:t>To be clear about scope: the goal here is not to replace a medical staff's judgment. It's to create a model that complements existing load-management practices — one more data point in the room, not a decision-maker.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53F9F-76E0-2E4B-A209-558949954BE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553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To build this, I combined three datasets from Kaggle. The first is an NBA injuries dataset covering the 2010 to 2020 NBA seasons — about 27,000 raw transaction records scraped from Pro Sports Transactions, with free-text fields describing player movements. The second and third are NBA game-level and player-level box score datasets spanning 2003 to 2022 seasons — the second has final scores and season labels, the third has over 668,000 player-level rows with minutes played and other box score stats.</a:t>
            </a:r>
          </a:p>
          <a:p>
            <a:pPr rtl="0"/>
            <a:endParaRPr lang="en-US" dirty="0"/>
          </a:p>
          <a:p>
            <a:pPr rtl="0"/>
            <a:r>
              <a:rPr lang="en-US" dirty="0"/>
              <a:t>Before building this, I looked at what's already been published. The NBA's own report found no clear link between schedule density and injury. Separately, researchers like Bullock and colleagues, and Torres-Ronda and colleagues, have tracked injury incidence and severity across multiple NBA seasons, which gave me useful baseline context for how common these injuries actually are league-wide.</a:t>
            </a:r>
          </a:p>
          <a:p>
            <a:pPr rtl="0"/>
            <a:endParaRPr lang="en-US" dirty="0"/>
          </a:p>
          <a:p>
            <a:pPr rtl="0"/>
            <a:r>
              <a:rPr lang="en-US" dirty="0"/>
              <a:t>The most directly relevant prior work is Wang's 2025 paper out of Wharton, which built a random forest model on box score and injury data from 2010 to 2022 seasons, using sixteen engineered features, and got around 69% correct classification of next-game injury risk. That became my benchmark and template — though my feature set is narrower, focused specifically on workload and schedule variables.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53F9F-76E0-2E4B-A209-558949954BE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100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Here's where things got more hands-on. The injury dataset didn't have a clean "this was an injury" flag — it just had free-text fields like "acquired" and "relinquished." Som I had to build that label myself, and it took several rounds of cleaning.</a:t>
            </a:r>
          </a:p>
          <a:p>
            <a:pPr rtl="0"/>
            <a:endParaRPr lang="en-US" dirty="0"/>
          </a:p>
          <a:p>
            <a:pPr rtl="0"/>
            <a:r>
              <a:rPr lang="en-US" dirty="0"/>
              <a:t>Starting from 17,560 raw "placed on Injury List" entries, I found 620 that were actually just rest days, personal reasons, or conditioning — not real injuries — so those got reclassified. Then I found 14 entries that were actually head coaches' medical leaves mistakenly logged under the player field. And I found one row where a team name had literally been recorded as the player. After excluding all of that, I was left with 16,935 confirmed injury events I could actually trust.</a:t>
            </a:r>
          </a:p>
          <a:p>
            <a:pPr rtl="0"/>
            <a:endParaRPr lang="en-US" dirty="0"/>
          </a:p>
          <a:p>
            <a:pPr rtl="0"/>
            <a:r>
              <a:rPr lang="en-US" dirty="0"/>
              <a:t>On top of that, I had to match player names across two differently-formatted datasets. After normalizing things like periods in initials and different suffixes, I raised the match rate from 94.3% to 97%. That last 3% is mostly nicknames and international name spelling differences that I spot-checked rather than chased further.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53F9F-76E0-2E4B-A209-558949954BE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78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With a clean label in place, I built the actual modeling table. The target variable is called “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injured_next_7d”</a:t>
            </a:r>
            <a:r>
              <a:rPr lang="en-US" dirty="0"/>
              <a:t> — a forward-looking binary flag that's 1 if the player's next confirmed injury happens within 7 days after a given game. Every feature only uses information known </a:t>
            </a:r>
            <a:r>
              <a:rPr lang="en-US" i="1" dirty="0"/>
              <a:t>before</a:t>
            </a:r>
            <a:r>
              <a:rPr lang="en-US" dirty="0"/>
              <a:t> that game, so nothing leaks from the outcome I'm trying to predict.</a:t>
            </a:r>
          </a:p>
          <a:p>
            <a:pPr rtl="0"/>
            <a:endParaRPr lang="en-US" dirty="0"/>
          </a:p>
          <a:p>
            <a:pPr rtl="0"/>
            <a:r>
              <a:rPr lang="en-US" dirty="0"/>
              <a:t>I engineered five workload signals: rolling average minutes over the trailing 5 and 10 games, cumulative minutes played so far that season, days of rest since the last game, a team-level back-to-back flag, and how many back-to-backs happened in the last 5 games.</a:t>
            </a:r>
          </a:p>
          <a:p>
            <a:pPr rtl="0"/>
            <a:endParaRPr lang="en-US" dirty="0"/>
          </a:p>
          <a:p>
            <a:pPr rtl="0"/>
            <a:r>
              <a:rPr lang="en-US" dirty="0"/>
              <a:t>For modeling, I trained two classifiers — a logistic regression as an interpretable baseline, and a random forest as the primary model — both using balanced class weighting, since injuries are rare relative to healthy games. And critically, I split the data by season rather than randomly: training on 2010 through 2017 seasons, and testing on the 2018/2019 NBA season. That way the model is never evaluated on games that happened before the data it trained on — which avoids a subtle but serious look-ahead bias.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53F9F-76E0-2E4B-A209-558949954B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095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So, what did the models actually find? On the held-out test set, the random forest slightly outperformed logistic regression — a ROC-AUC of 0.587 versus 0.569 — with a better balance of precision and recall on the minority injury class. To be upfront: neither model is strongly discriminative. Both are modestly above chance, but well below what you'd call reliable.</a:t>
            </a:r>
          </a:p>
          <a:p>
            <a:pPr rtl="0"/>
            <a:endParaRPr lang="en-US" dirty="0"/>
          </a:p>
          <a:p>
            <a:pPr rtl="0"/>
            <a:r>
              <a:rPr lang="en-US" dirty="0"/>
              <a:t>Looking at what drove those predictions, cumulative season minutes was the single strongest factor, followed by the 10-game rolling average and days of rest. One thing worth flagging: that same cumulative-minutes variable had an almost negligible coefficient in the logistic regression. My interpretation is that it might partly be acting as a stand-in for "how far into the season is this," since that number rises for basically every player regardless of individual risk — not purely reflecting someone's personal excessive workload.</a:t>
            </a:r>
          </a:p>
          <a:p>
            <a:pPr rtl="0"/>
            <a:endParaRPr lang="en-US" dirty="0"/>
          </a:p>
          <a:p>
            <a:pPr rtl="0"/>
            <a:r>
              <a:rPr lang="en-US" dirty="0"/>
              <a:t>For context on the numbers: 9% of test-set games preceded an injury within 7 days, versus 8.1% in training — a reasonably stable positive rate across both splits, which gives me some confidence the pattern isn't just a fluke of how I split the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53F9F-76E0-2E4B-A209-558949954BE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70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So, bringing it back to the three research questions I opened with. On RQ1: recent workload does carry a detectable signal, but it's weak — an AUC of 0.57 to 0.59 is well below the 0.70 threshold generally considered clinically useful. </a:t>
            </a:r>
          </a:p>
          <a:p>
            <a:pPr rtl="0"/>
            <a:endParaRPr lang="en-US" dirty="0"/>
          </a:p>
          <a:p>
            <a:pPr rtl="0"/>
            <a:r>
              <a:rPr lang="en-US" dirty="0"/>
              <a:t>On RQ2: cumulative workload and rest patterns mattered most; back-to-back scheduling barely moved the needle. </a:t>
            </a:r>
          </a:p>
          <a:p>
            <a:pPr rtl="0"/>
            <a:endParaRPr lang="en-US" dirty="0"/>
          </a:p>
          <a:p>
            <a:pPr rtl="0"/>
            <a:r>
              <a:rPr lang="en-US" dirty="0"/>
              <a:t>And on RQ3: these findings actually reinforce the NBA's own conclusion — that schedule density alone doesn't have a strong direct link to injury.</a:t>
            </a:r>
          </a:p>
          <a:p>
            <a:pPr rtl="0"/>
            <a:endParaRPr lang="en-US" dirty="0"/>
          </a:p>
          <a:p>
            <a:pPr rtl="0"/>
            <a:r>
              <a:rPr lang="en-US" dirty="0"/>
              <a:t>I want to be clear that I don't see this as a disappointing result. It's an honest, independently-derived finding that lines up with what the league's own analytics group already published. Workload alone is clearly not the whole picture — which makes sense, since injury is influenced by so much more than just playing time: age, prior injury history, biomechanics, even chance. That's exactly where I’d recommend to take this next — adding prior injury history is the most obvious, well-supported next step. </a:t>
            </a:r>
          </a:p>
          <a:p>
            <a:pPr rtl="0"/>
            <a:endParaRPr lang="en-US" dirty="0"/>
          </a:p>
          <a:p>
            <a:pPr rtl="0"/>
            <a:r>
              <a:rPr lang="en-US" dirty="0"/>
              <a:t>Thank you for your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53F9F-76E0-2E4B-A209-558949954BE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90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E42A3-2DAD-B708-9CD6-035C2076D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26445D-3879-2847-0D82-DCE162D0FB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4FAA5-F0F1-AB18-E114-C57E707B8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BB043-BBA5-CA49-AA86-AE7789EF7532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90574-B284-1D8E-25EE-BB3B15F9E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396A6-10FB-B408-5019-144701111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1D7C0-AE4D-534C-B81C-2C454EC0A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362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3B53C-309D-4647-3D5D-25DD6D386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E8E3B-F670-C2BF-CEC7-8EDED4FA0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3B01D-1055-6805-DA38-94F8851FA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BB043-BBA5-CA49-AA86-AE7789EF7532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3489A-AA5F-9EA7-A4AD-063EF8EB8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CD788-FE27-05FD-2909-708157246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1D7C0-AE4D-534C-B81C-2C454EC0A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167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0059F-2542-E6C1-79E1-F0553858D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092EA-0FC7-083B-48DD-9768E9738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14973-74E3-BB0B-A021-238723B48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BB043-BBA5-CA49-AA86-AE7789EF7532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DDFB9-53DF-B2CE-F73F-78A61443F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7AD0B-6F7A-4AE7-83C8-949D1CC8E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1D7C0-AE4D-534C-B81C-2C454EC0A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10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A616-D880-6461-1992-58A3FE046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72744-C860-5BD3-AB77-E43C9AB176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B89DF-FDEB-4800-D6DB-C1A5ACD5C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510DC-7CC0-BE5A-20EB-77203C185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BB043-BBA5-CA49-AA86-AE7789EF7532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305FD-45F0-622B-CEDD-A9D866CB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EBEB60-72E6-B7C5-ABCA-D5E797115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1D7C0-AE4D-534C-B81C-2C454EC0A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330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1E710-2296-AA30-C64F-4FA15AEB2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3524EE-4CAE-01E0-EDF2-857C5113D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8CA4B-C210-F538-73ED-88A5DA333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45EA57-6202-AEF4-D24B-D835F91BC9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984BA8-8DAF-0306-75DF-BC96042974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A4D481-7FF6-B0BB-A803-F9A835A90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BB043-BBA5-CA49-AA86-AE7789EF7532}" type="datetimeFigureOut">
              <a:rPr lang="en-US" smtClean="0"/>
              <a:t>10/3/26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1F28A-7B74-2EF7-EB9F-4DC1490BA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D2F2B9-F433-A41B-D4AB-D1B05792A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1D7C0-AE4D-534C-B81C-2C454EC0A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52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6EA44-1A1A-66D9-0D3D-9387B5801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10B9A0-4243-900C-C716-DD7DAD1BC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BB043-BBA5-CA49-AA86-AE7789EF7532}" type="datetimeFigureOut">
              <a:rPr lang="en-US" smtClean="0"/>
              <a:t>10/3/26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7F46D6-4F29-5B40-C493-6F90CBCBD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78886-D6D7-4A23-8FE9-AC5BE9C81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1D7C0-AE4D-534C-B81C-2C454EC0A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389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8C8DBC-F4F2-E63A-437E-67D0CD554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BB043-BBA5-CA49-AA86-AE7789EF7532}" type="datetimeFigureOut">
              <a:rPr lang="en-US" smtClean="0"/>
              <a:t>10/3/26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AA8171-BB8E-4F9D-606C-91641157D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ACC6E-130E-5856-3686-6F15EAC03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1D7C0-AE4D-534C-B81C-2C454EC0A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734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3A143-2951-A623-D451-E368ED1E4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09C08-4690-7CCD-0B33-5D061E4CC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9E2178-86CF-1616-D620-D53B2217C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33567-1F33-3E70-B63D-452030017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BB043-BBA5-CA49-AA86-AE7789EF7532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FE7241-42EE-96C4-CEF6-9ABF44E9B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C1D99-F28D-72C1-9BA8-175B87CF1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1D7C0-AE4D-534C-B81C-2C454EC0A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934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DCEC6-A112-44C1-AB04-11873785F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F77E8D-7A1D-D769-8974-91EC2DE27B9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8ABE05-76D8-C5F2-1C1E-182EEAE23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4D6E6B-468C-8FD1-9765-CC30DA201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BB043-BBA5-CA49-AA86-AE7789EF7532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B65ED6-CE3A-B8E1-31E1-FBCD6B61D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BA6E9-B71D-2B4F-D332-E53D698D9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1D7C0-AE4D-534C-B81C-2C454EC0A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57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FCCA1-A077-E3AF-4280-44187BFB5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4B9391-30CD-E579-76E1-A48B1B6DC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3A487-4DCD-9543-5EB8-AE5C82CA1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BB043-BBA5-CA49-AA86-AE7789EF7532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3ECEA-12E9-3F0B-B802-E3EB2E937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4DB94-CE8B-D4A9-FA28-D5E4B5011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1D7C0-AE4D-534C-B81C-2C454EC0A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457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5D32F0-F53A-7A91-0928-B4A82FD361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806EF9-3ADF-DD27-6E3B-0B27181D5D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2D8E9-7694-7A09-67E0-ECF867320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BB043-BBA5-CA49-AA86-AE7789EF7532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AD229-1E25-2E3C-8E86-16388806D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0A81E-298C-43EB-3287-AE5B7805E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1D7C0-AE4D-534C-B81C-2C454EC0A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377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C7E3E7-D1E4-7E96-577B-4350A0C95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25D9C-4487-89D0-B52C-ED12F782C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80EE7-8AE2-5FF1-205A-CD62FE0847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BB043-BBA5-CA49-AA86-AE7789EF7532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FF3CD-3482-D355-D708-5934145B0E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788ED-7BFF-B1F6-7F3E-92A2A400DA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41D7C0-AE4D-534C-B81C-2C454EC0A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61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sb.wharton.upenn.edu/wp-content/uploads/2025/12/WANG_Using-Injury-Risk-Forecasting-to-Quantify-Financial-Impact-in-the-NBA-1.pdf" TargetMode="External"/><Relationship Id="rId3" Type="http://schemas.openxmlformats.org/officeDocument/2006/relationships/slideLayout" Target="../slideLayouts/slideLayout6.xml"/><Relationship Id="rId7" Type="http://schemas.openxmlformats.org/officeDocument/2006/relationships/hyperlink" Target="https://doi.org/10.1371/journal.pone.0263354" TargetMode="Externa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hyperlink" Target="https://doi.org/10.1177/23259671211004094" TargetMode="External"/><Relationship Id="rId11" Type="http://schemas.openxmlformats.org/officeDocument/2006/relationships/image" Target="../media/image1.png"/><Relationship Id="rId5" Type="http://schemas.openxmlformats.org/officeDocument/2006/relationships/hyperlink" Target="https://www.espn.com/nba/story/_/id/39288379/nba-report-no-link-load-management-less-injury-risk" TargetMode="External"/><Relationship Id="rId10" Type="http://schemas.openxmlformats.org/officeDocument/2006/relationships/hyperlink" Target="https://www.kaggle.com/datasets/nathanlauga/nba-games" TargetMode="External"/><Relationship Id="rId4" Type="http://schemas.openxmlformats.org/officeDocument/2006/relationships/notesSlide" Target="../notesSlides/notesSlide3.xml"/><Relationship Id="rId9" Type="http://schemas.openxmlformats.org/officeDocument/2006/relationships/hyperlink" Target="https://www.kaggle.com/datasets/ghopkins/nba-injuries-2010-2018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ADBF6-EDD2-C034-5BD6-463C1D86AF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Predicting NBA Player Injury Risk from In-Season Workload Patterns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35355E-BB7F-2D43-9447-09940F453C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Leo Luera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Project 1, Milestone 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C490E5-91A3-C068-F5E9-DE51D51B3A2F}"/>
              </a:ext>
            </a:extLst>
          </p:cNvPr>
          <p:cNvCxnSpPr>
            <a:cxnSpLocks/>
          </p:cNvCxnSpPr>
          <p:nvPr/>
        </p:nvCxnSpPr>
        <p:spPr>
          <a:xfrm>
            <a:off x="1281869" y="3509963"/>
            <a:ext cx="96396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Audio 13">
            <a:extLst>
              <a:ext uri="{FF2B5EF4-FFF2-40B4-BE49-F238E27FC236}">
                <a16:creationId xmlns:a16="http://schemas.microsoft.com/office/drawing/2014/main" id="{49A59772-9569-9283-8090-8F851750BE7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3632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976"/>
    </mc:Choice>
    <mc:Fallback>
      <p:transition spd="slow" advTm="229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02B5D2-0BDC-5945-15F0-4E84882CD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CC3EDA-E061-DB73-024D-04CF39C1A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266" y="185663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Business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04C30-70AE-6D9C-BA2B-8F5606620B18}"/>
              </a:ext>
            </a:extLst>
          </p:cNvPr>
          <p:cNvSpPr txBox="1"/>
          <p:nvPr/>
        </p:nvSpPr>
        <p:spPr>
          <a:xfrm>
            <a:off x="197265" y="1312674"/>
            <a:ext cx="11655751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NBA teams invest heavily in load management and sports science staff, yet they lack a simple, data-driven way to flag which specific players are entering a higher-risk window based on their own recent workload. </a:t>
            </a:r>
          </a:p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NBA's own analytics group examined roughly 150 players per season from 2014 to 2023 and found no significant correlation between game-participation frequency, schedule density, or cumulative participation and injury.</a:t>
            </a:r>
          </a:p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endParaRPr lang="en-US" sz="12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2000" b="1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Research Questions</a:t>
            </a:r>
            <a:endParaRPr lang="en-US" sz="2000" b="1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E67C64-1B97-2E8C-D2C0-EDF3A77DDAC9}"/>
              </a:ext>
            </a:extLst>
          </p:cNvPr>
          <p:cNvCxnSpPr>
            <a:cxnSpLocks/>
          </p:cNvCxnSpPr>
          <p:nvPr/>
        </p:nvCxnSpPr>
        <p:spPr>
          <a:xfrm>
            <a:off x="264919" y="1228236"/>
            <a:ext cx="11588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6E0F4F1-C97C-3D6B-798C-69DD335BF1F5}"/>
              </a:ext>
            </a:extLst>
          </p:cNvPr>
          <p:cNvSpPr txBox="1"/>
          <p:nvPr/>
        </p:nvSpPr>
        <p:spPr>
          <a:xfrm>
            <a:off x="268124" y="5515782"/>
            <a:ext cx="116557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goal is to create a model that complements existing load-management practices for team performance staff, rather than replacing their judgement.</a:t>
            </a:r>
            <a:endParaRPr lang="en-US" sz="2000" b="1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D576BD4-0824-7F29-B521-88A924B96459}"/>
              </a:ext>
            </a:extLst>
          </p:cNvPr>
          <p:cNvSpPr/>
          <p:nvPr/>
        </p:nvSpPr>
        <p:spPr>
          <a:xfrm>
            <a:off x="296254" y="3646146"/>
            <a:ext cx="3207521" cy="17889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recent workload predict elevated risk in the games that follow?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F639939-E26D-BCA0-76FB-DADE23E384A5}"/>
              </a:ext>
            </a:extLst>
          </p:cNvPr>
          <p:cNvSpPr/>
          <p:nvPr/>
        </p:nvSpPr>
        <p:spPr>
          <a:xfrm>
            <a:off x="3738785" y="3646146"/>
            <a:ext cx="3207521" cy="17889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8925" indent="-288925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 Which workload features are the strongest predictors: minutes, rest, or schedule density?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78543EE-8112-56FB-A90C-6BC337771B67}"/>
              </a:ext>
            </a:extLst>
          </p:cNvPr>
          <p:cNvSpPr/>
          <p:nvPr/>
        </p:nvSpPr>
        <p:spPr>
          <a:xfrm>
            <a:off x="7181316" y="3646146"/>
            <a:ext cx="3207521" cy="17889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8925" indent="-288925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 Do the findings support or contradict the NBA’s own conclusion on schedule density?</a:t>
            </a:r>
          </a:p>
        </p:txBody>
      </p:sp>
      <p:pic>
        <p:nvPicPr>
          <p:cNvPr id="17" name="Audio 16">
            <a:extLst>
              <a:ext uri="{FF2B5EF4-FFF2-40B4-BE49-F238E27FC236}">
                <a16:creationId xmlns:a16="http://schemas.microsoft.com/office/drawing/2014/main" id="{CCBAE51C-A712-80D4-4213-734D112D7D9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9611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7632"/>
    </mc:Choice>
    <mc:Fallback>
      <p:transition spd="slow" advTm="976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7AF659-AAFF-E2DB-D449-DCEADFA04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64921F-B588-CBFF-8CAE-C724E068E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266" y="185663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AF7169-B76B-3864-9D66-CA11001399ED}"/>
              </a:ext>
            </a:extLst>
          </p:cNvPr>
          <p:cNvSpPr txBox="1"/>
          <p:nvPr/>
        </p:nvSpPr>
        <p:spPr>
          <a:xfrm>
            <a:off x="197266" y="1312674"/>
            <a:ext cx="5806870" cy="4944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Injury risk in professional basketball has become an increasingly prominent analytics topic as teams weigh competitive performance against long-term player health. There are several prior works that inform this project: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Bontemps, T. (2024, January 13). 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NBA report: No link between load management, less injury risk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ESPN. </a:t>
            </a:r>
            <a:r>
              <a:rPr lang="en-US" sz="1200" u="sng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https://www.espn.com/nba/story/_/id/39288379/nba-report-no-link-load-management-less-injury-risk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Bullock, G. S., Ferguson, T., Vaughan, J., Gillespie, D., Collins, G., &amp;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Kluzek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S. (2021). Temporal trends and severity in injury and illness incidence in the National Basketball Association over 11 seasons.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Orthopaedic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Journal of Sports Medicine, 9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(6). </a:t>
            </a:r>
            <a:r>
              <a:rPr lang="en-US" sz="1200" u="sng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https://doi.org/10.1177/23259671211004094</a:t>
            </a:r>
            <a:endParaRPr lang="en-US" sz="12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Torres-Ronda, L.,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Gámez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I., Robertson, S., &amp; Fernández, J. (2022). Epidemiology and injury trends in the National Basketball Association: Pre- and per-COVID-19 (2017–2021). 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PLOS ONE, 17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(2), e0263354. </a:t>
            </a:r>
            <a:r>
              <a:rPr lang="en-US" sz="1200" u="sng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https://doi.org/10.1371/journal.pone.0263354</a:t>
            </a:r>
            <a:endParaRPr lang="en-US" sz="12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Wang, E. (2025). 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Using injury-risk forecasting to quantify financial impact in the NBA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Wharton School, University of Pennsylvania. </a:t>
            </a:r>
            <a:r>
              <a:rPr lang="en-US" sz="1200" u="sng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https://wsb.wharton.upenn.edu/wp-content/uploads/2025/12/WANG_Using-Injury-Risk-Forecasting-to-Quantify-Financial-Impact-in-the-NBA-1.pdf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4E062DC-B398-1A6A-81EB-9A70A5A8BAB8}"/>
              </a:ext>
            </a:extLst>
          </p:cNvPr>
          <p:cNvCxnSpPr>
            <a:cxnSpLocks/>
          </p:cNvCxnSpPr>
          <p:nvPr/>
        </p:nvCxnSpPr>
        <p:spPr>
          <a:xfrm>
            <a:off x="264919" y="1228236"/>
            <a:ext cx="11588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A05004A-9625-DFFD-8A4C-D01682997B1F}"/>
              </a:ext>
            </a:extLst>
          </p:cNvPr>
          <p:cNvSpPr txBox="1"/>
          <p:nvPr/>
        </p:nvSpPr>
        <p:spPr>
          <a:xfrm>
            <a:off x="6187865" y="1312673"/>
            <a:ext cx="566515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Three data sources were combined for this analysis, all sourced from Kaggle: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NBA Injuries (2010 – 2020): 27,105 raw transaction records scraped from Pro Sports Transactions, with fields for date, team, player acquired, player relinquished, and a free-text notes field describing the transaction: </a:t>
            </a:r>
            <a:r>
              <a:rPr lang="en-US" sz="1200" u="sng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https://www.kaggle.com/datasets/ghopkins/nba-injuries-2010-2018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NBA Games: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26,651 game-level records (2003 – 2022) with final scores, shooting statistics, and a season label for each game: </a:t>
            </a:r>
            <a:r>
              <a:rPr lang="en-US" sz="1200" u="sng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https://www.kaggle.com/datasets/nathanlauga/nba-games</a:t>
            </a:r>
            <a:br>
              <a:rPr lang="en-US" sz="1200" u="sng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NBA Games Details: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668,628 player-level box score records (one row per player per game), including minutes played, points, and other box-score statistics, joined to game dates and seasons: </a:t>
            </a:r>
            <a:r>
              <a:rPr lang="en-US" sz="1200" u="sng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https://www.kaggle.com/datasets/nathanlauga/nba-games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Audio 10">
            <a:extLst>
              <a:ext uri="{FF2B5EF4-FFF2-40B4-BE49-F238E27FC236}">
                <a16:creationId xmlns:a16="http://schemas.microsoft.com/office/drawing/2014/main" id="{69B0E34E-D365-1F16-4085-6F2B1808881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1279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4160"/>
    </mc:Choice>
    <mc:Fallback>
      <p:transition spd="slow" advTm="1041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A7E765-F847-D624-3EC4-E56D06533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17483D-7D7A-AE38-EAEA-FB2A99B37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266" y="185663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Explanation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E3391B-0D62-E063-FC9E-AF30745BCDED}"/>
              </a:ext>
            </a:extLst>
          </p:cNvPr>
          <p:cNvSpPr txBox="1"/>
          <p:nvPr/>
        </p:nvSpPr>
        <p:spPr>
          <a:xfrm>
            <a:off x="197265" y="1312674"/>
            <a:ext cx="11655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Turning free-text transactions into a reliable label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D58B914-D372-0FFE-BC6E-7CD8638E0C23}"/>
              </a:ext>
            </a:extLst>
          </p:cNvPr>
          <p:cNvCxnSpPr>
            <a:cxnSpLocks/>
          </p:cNvCxnSpPr>
          <p:nvPr/>
        </p:nvCxnSpPr>
        <p:spPr>
          <a:xfrm>
            <a:off x="264919" y="1228236"/>
            <a:ext cx="11588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1F19B294-964E-310C-8722-E4A7069F7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506303"/>
              </p:ext>
            </p:extLst>
          </p:nvPr>
        </p:nvGraphicFramePr>
        <p:xfrm>
          <a:off x="819150" y="1984049"/>
          <a:ext cx="10553700" cy="2682240"/>
        </p:xfrm>
        <a:graphic>
          <a:graphicData uri="http://schemas.openxmlformats.org/drawingml/2006/table">
            <a:tbl>
              <a:tblPr/>
              <a:tblGrid>
                <a:gridCol w="527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3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3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BFBF8"/>
                          </a:solidFill>
                          <a:latin typeface="Arial" panose="020B0604020202020204" pitchFamily="34" charset="0"/>
                          <a:ea typeface="IBM Plex Sans" pitchFamily="34" charset="-122"/>
                          <a:cs typeface="Arial" panose="020B0604020202020204" pitchFamily="34" charset="0"/>
                        </a:rPr>
                        <a:t>Category</a:t>
                      </a:r>
                      <a:endParaRPr lang="en-US" sz="1300" dirty="0">
                        <a:latin typeface="Arial" panose="020B0604020202020204" pitchFamily="34" charset="0"/>
                        <a:ea typeface="IBM Plex Sans" charset="0"/>
                        <a:cs typeface="Arial" panose="020B0604020202020204" pitchFamily="34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BFBF8"/>
                          </a:solidFill>
                          <a:latin typeface="Arial" panose="020B0604020202020204" pitchFamily="34" charset="0"/>
                          <a:ea typeface="IBM Plex Sans" pitchFamily="34" charset="-122"/>
                          <a:cs typeface="Arial" panose="020B0604020202020204" pitchFamily="34" charset="0"/>
                        </a:rPr>
                        <a:t>Rows</a:t>
                      </a:r>
                      <a:endParaRPr lang="en-US" sz="1300" dirty="0">
                        <a:latin typeface="Arial" panose="020B0604020202020204" pitchFamily="34" charset="0"/>
                        <a:ea typeface="IBM Plex Sans" charset="0"/>
                        <a:cs typeface="Arial" panose="020B0604020202020204" pitchFamily="34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BFBF8"/>
                          </a:solidFill>
                          <a:latin typeface="Arial" panose="020B0604020202020204" pitchFamily="34" charset="0"/>
                          <a:ea typeface="IBM Plex Sans" pitchFamily="34" charset="-122"/>
                          <a:cs typeface="Arial" panose="020B0604020202020204" pitchFamily="34" charset="0"/>
                        </a:rPr>
                        <a:t>Action</a:t>
                      </a:r>
                      <a:endParaRPr lang="en-US" sz="1300" dirty="0">
                        <a:latin typeface="Arial" panose="020B0604020202020204" pitchFamily="34" charset="0"/>
                        <a:ea typeface="IBM Plex Sans" charset="0"/>
                        <a:cs typeface="Arial" panose="020B0604020202020204" pitchFamily="34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IBM Plex Sans" pitchFamily="34" charset="-122"/>
                          <a:cs typeface="Arial" panose="020B0604020202020204" pitchFamily="34" charset="0"/>
                        </a:rPr>
                        <a:t>Raw placed_on_IL entries</a:t>
                      </a:r>
                      <a:endParaRPr lang="en-US" sz="1300" dirty="0">
                        <a:latin typeface="Arial" panose="020B0604020202020204" pitchFamily="34" charset="0"/>
                        <a:ea typeface="IBM Plex Sans" charset="0"/>
                        <a:cs typeface="Arial" panose="020B0604020202020204" pitchFamily="34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IBM Plex Sans" pitchFamily="34" charset="-122"/>
                          <a:cs typeface="Arial" panose="020B0604020202020204" pitchFamily="34" charset="0"/>
                        </a:rPr>
                        <a:t>17,560</a:t>
                      </a:r>
                      <a:endParaRPr lang="en-US" sz="1300" dirty="0">
                        <a:latin typeface="Arial" panose="020B0604020202020204" pitchFamily="34" charset="0"/>
                        <a:ea typeface="IBM Plex Sans" charset="0"/>
                        <a:cs typeface="Arial" panose="020B0604020202020204" pitchFamily="34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Arial" panose="020B0604020202020204" pitchFamily="34" charset="0"/>
                          <a:ea typeface="IBM Plex Sans" pitchFamily="34" charset="-122"/>
                          <a:cs typeface="Arial" panose="020B0604020202020204" pitchFamily="34" charset="0"/>
                        </a:rPr>
                        <a:t>Starting point</a:t>
                      </a:r>
                      <a:endParaRPr lang="en-US" sz="1300" dirty="0">
                        <a:latin typeface="Arial" panose="020B0604020202020204" pitchFamily="34" charset="0"/>
                        <a:ea typeface="IBM Plex Sans" charset="0"/>
                        <a:cs typeface="Arial" panose="020B0604020202020204" pitchFamily="34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IBM Plex Sans" pitchFamily="34" charset="-122"/>
                          <a:cs typeface="Arial" panose="020B0604020202020204" pitchFamily="34" charset="0"/>
                        </a:rPr>
                        <a:t>Non-injury absences (rest, personal, conditioning)</a:t>
                      </a:r>
                      <a:endParaRPr lang="en-US" sz="1300" dirty="0">
                        <a:latin typeface="Arial" panose="020B0604020202020204" pitchFamily="34" charset="0"/>
                        <a:ea typeface="IBM Plex Sans" charset="0"/>
                        <a:cs typeface="Arial" panose="020B0604020202020204" pitchFamily="34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IBM Plex Sans" pitchFamily="34" charset="-122"/>
                          <a:cs typeface="Arial" panose="020B0604020202020204" pitchFamily="34" charset="0"/>
                        </a:rPr>
                        <a:t>620</a:t>
                      </a:r>
                      <a:endParaRPr lang="en-US" sz="1300" dirty="0">
                        <a:latin typeface="Arial" panose="020B0604020202020204" pitchFamily="34" charset="0"/>
                        <a:ea typeface="IBM Plex Sans" charset="0"/>
                        <a:cs typeface="Arial" panose="020B0604020202020204" pitchFamily="34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Arial" panose="020B0604020202020204" pitchFamily="34" charset="0"/>
                          <a:ea typeface="IBM Plex Sans" pitchFamily="34" charset="-122"/>
                          <a:cs typeface="Arial" panose="020B0604020202020204" pitchFamily="34" charset="0"/>
                        </a:rPr>
                        <a:t>Reclassified</a:t>
                      </a:r>
                      <a:endParaRPr lang="en-US" sz="1300" dirty="0">
                        <a:latin typeface="Arial" panose="020B0604020202020204" pitchFamily="34" charset="0"/>
                        <a:ea typeface="IBM Plex Sans" charset="0"/>
                        <a:cs typeface="Arial" panose="020B0604020202020204" pitchFamily="34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IBM Plex Sans" pitchFamily="34" charset="-122"/>
                          <a:cs typeface="Arial" panose="020B0604020202020204" pitchFamily="34" charset="0"/>
                        </a:rPr>
                        <a:t>Coach/staff entries</a:t>
                      </a:r>
                      <a:endParaRPr lang="en-US" sz="1300" dirty="0">
                        <a:latin typeface="Arial" panose="020B0604020202020204" pitchFamily="34" charset="0"/>
                        <a:ea typeface="IBM Plex Sans" charset="0"/>
                        <a:cs typeface="Arial" panose="020B0604020202020204" pitchFamily="34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IBM Plex Sans" pitchFamily="34" charset="-122"/>
                          <a:cs typeface="Arial" panose="020B0604020202020204" pitchFamily="34" charset="0"/>
                        </a:rPr>
                        <a:t>14</a:t>
                      </a:r>
                      <a:endParaRPr lang="en-US" sz="1300" dirty="0">
                        <a:latin typeface="Arial" panose="020B0604020202020204" pitchFamily="34" charset="0"/>
                        <a:ea typeface="IBM Plex Sans" charset="0"/>
                        <a:cs typeface="Arial" panose="020B0604020202020204" pitchFamily="34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Arial" panose="020B0604020202020204" pitchFamily="34" charset="0"/>
                          <a:ea typeface="IBM Plex Sans" pitchFamily="34" charset="-122"/>
                          <a:cs typeface="Arial" panose="020B0604020202020204" pitchFamily="34" charset="0"/>
                        </a:rPr>
                        <a:t>Reclassified</a:t>
                      </a:r>
                      <a:endParaRPr lang="en-US" sz="1300" dirty="0">
                        <a:latin typeface="Arial" panose="020B0604020202020204" pitchFamily="34" charset="0"/>
                        <a:ea typeface="IBM Plex Sans" charset="0"/>
                        <a:cs typeface="Arial" panose="020B0604020202020204" pitchFamily="34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IBM Plex Sans" pitchFamily="34" charset="-122"/>
                          <a:cs typeface="Arial" panose="020B0604020202020204" pitchFamily="34" charset="0"/>
                        </a:rPr>
                        <a:t>Malformed team-as-player entry</a:t>
                      </a:r>
                      <a:endParaRPr lang="en-US" sz="1300" dirty="0">
                        <a:latin typeface="Arial" panose="020B0604020202020204" pitchFamily="34" charset="0"/>
                        <a:ea typeface="IBM Plex Sans" charset="0"/>
                        <a:cs typeface="Arial" panose="020B0604020202020204" pitchFamily="34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IBM Plex Sans" pitchFamily="34" charset="-122"/>
                          <a:cs typeface="Arial" panose="020B0604020202020204" pitchFamily="34" charset="0"/>
                        </a:rPr>
                        <a:t>1</a:t>
                      </a:r>
                      <a:endParaRPr lang="en-US" sz="1300" dirty="0">
                        <a:latin typeface="Arial" panose="020B0604020202020204" pitchFamily="34" charset="0"/>
                        <a:ea typeface="IBM Plex Sans" charset="0"/>
                        <a:cs typeface="Arial" panose="020B0604020202020204" pitchFamily="34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Arial" panose="020B0604020202020204" pitchFamily="34" charset="0"/>
                          <a:ea typeface="IBM Plex Sans" pitchFamily="34" charset="-122"/>
                          <a:cs typeface="Arial" panose="020B0604020202020204" pitchFamily="34" charset="0"/>
                        </a:rPr>
                        <a:t>Reclassified</a:t>
                      </a:r>
                      <a:endParaRPr lang="en-US" sz="1300" dirty="0">
                        <a:latin typeface="Arial" panose="020B0604020202020204" pitchFamily="34" charset="0"/>
                        <a:ea typeface="IBM Plex Sans" charset="0"/>
                        <a:cs typeface="Arial" panose="020B0604020202020204" pitchFamily="34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IBM Plex Sans" pitchFamily="34" charset="-122"/>
                          <a:cs typeface="Arial" panose="020B0604020202020204" pitchFamily="34" charset="0"/>
                        </a:rPr>
                        <a:t>Final injury events used for modeling</a:t>
                      </a:r>
                      <a:endParaRPr lang="en-US" sz="1300" dirty="0">
                        <a:latin typeface="Arial" panose="020B0604020202020204" pitchFamily="34" charset="0"/>
                        <a:ea typeface="IBM Plex Sans" charset="0"/>
                        <a:cs typeface="Arial" panose="020B0604020202020204" pitchFamily="34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IBM Plex Sans" pitchFamily="34" charset="-122"/>
                          <a:cs typeface="Arial" panose="020B0604020202020204" pitchFamily="34" charset="0"/>
                        </a:rPr>
                        <a:t>16,935</a:t>
                      </a:r>
                      <a:endParaRPr lang="en-US" sz="1300" dirty="0">
                        <a:latin typeface="Arial" panose="020B0604020202020204" pitchFamily="34" charset="0"/>
                        <a:ea typeface="IBM Plex Sans" charset="0"/>
                        <a:cs typeface="Arial" panose="020B0604020202020204" pitchFamily="34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0B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E6F95"/>
                          </a:solidFill>
                          <a:latin typeface="Arial" panose="020B0604020202020204" pitchFamily="34" charset="0"/>
                          <a:ea typeface="IBM Plex Sans" pitchFamily="34" charset="-122"/>
                          <a:cs typeface="Arial" panose="020B0604020202020204" pitchFamily="34" charset="0"/>
                        </a:rPr>
                        <a:t>Retained</a:t>
                      </a:r>
                      <a:endParaRPr lang="en-US" sz="1300" dirty="0">
                        <a:latin typeface="Arial" panose="020B0604020202020204" pitchFamily="34" charset="0"/>
                        <a:ea typeface="IBM Plex Sans" charset="0"/>
                        <a:cs typeface="Arial" panose="020B0604020202020204" pitchFamily="34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0B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C1A3AA9-7DCD-5976-D0F9-95AE7881B892}"/>
              </a:ext>
            </a:extLst>
          </p:cNvPr>
          <p:cNvSpPr txBox="1"/>
          <p:nvPr/>
        </p:nvSpPr>
        <p:spPr>
          <a:xfrm>
            <a:off x="264919" y="5013623"/>
            <a:ext cx="11655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Name normalization raised the player-match rate between datasets from 94.3% to 97.0%.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Audio 10">
            <a:extLst>
              <a:ext uri="{FF2B5EF4-FFF2-40B4-BE49-F238E27FC236}">
                <a16:creationId xmlns:a16="http://schemas.microsoft.com/office/drawing/2014/main" id="{F8EA620D-EB28-30A6-11A4-80DECBACD9A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524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4256"/>
    </mc:Choice>
    <mc:Fallback>
      <p:transition spd="slow" advTm="842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B985BD-09BA-663D-D4DE-ABAFD9E3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A2BFDA-5116-97D0-EA62-C9DF36595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266" y="185663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BCC3AA-3DDB-6775-E615-05B97199D0D2}"/>
              </a:ext>
            </a:extLst>
          </p:cNvPr>
          <p:cNvSpPr txBox="1"/>
          <p:nvPr/>
        </p:nvSpPr>
        <p:spPr>
          <a:xfrm>
            <a:off x="197265" y="1312674"/>
            <a:ext cx="5776245" cy="184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Five workload signals:</a:t>
            </a:r>
          </a:p>
          <a:p>
            <a:pPr marL="171450" indent="-1714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Rolling average minutes (trailing 5 and 10 games)</a:t>
            </a:r>
          </a:p>
          <a:p>
            <a:pPr marL="171450" indent="-1714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Cumulative minutes played this season</a:t>
            </a:r>
          </a:p>
          <a:p>
            <a:pPr marL="171450" indent="-1714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Days of rest since last game</a:t>
            </a:r>
          </a:p>
          <a:p>
            <a:pPr marL="171450" indent="-1714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Team-level back-to-back flag</a:t>
            </a:r>
          </a:p>
          <a:p>
            <a:pPr marL="171450" indent="-1714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Back-to-backs in the trailing 5 games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DA841F7-D8B5-13B4-C40D-198755B588FC}"/>
              </a:ext>
            </a:extLst>
          </p:cNvPr>
          <p:cNvCxnSpPr>
            <a:cxnSpLocks/>
          </p:cNvCxnSpPr>
          <p:nvPr/>
        </p:nvCxnSpPr>
        <p:spPr>
          <a:xfrm>
            <a:off x="264919" y="1228236"/>
            <a:ext cx="11588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5504182-3BC9-E140-3CE3-D150A43E024E}"/>
              </a:ext>
            </a:extLst>
          </p:cNvPr>
          <p:cNvSpPr txBox="1"/>
          <p:nvPr/>
        </p:nvSpPr>
        <p:spPr>
          <a:xfrm>
            <a:off x="6218489" y="1312673"/>
            <a:ext cx="5776245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Target: injured_next_7d</a:t>
            </a:r>
          </a:p>
          <a:p>
            <a:pPr>
              <a:spcAft>
                <a:spcPts val="1000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 forward-looking binary label: 1 if the player’s next confirmed injury occurs within 7 days after this game. Every feature uses only information known before the game, nothing leaks from the outcome being predicted.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CD4D92-E050-5B76-4542-EEC2BAEBFB95}"/>
              </a:ext>
            </a:extLst>
          </p:cNvPr>
          <p:cNvSpPr txBox="1"/>
          <p:nvPr/>
        </p:nvSpPr>
        <p:spPr>
          <a:xfrm>
            <a:off x="197265" y="3429000"/>
            <a:ext cx="11655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Time-based split, two models, imbalance-aware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E3C72B6-5F95-157B-5A78-46AAEA781F3C}"/>
              </a:ext>
            </a:extLst>
          </p:cNvPr>
          <p:cNvSpPr/>
          <p:nvPr/>
        </p:nvSpPr>
        <p:spPr>
          <a:xfrm>
            <a:off x="350378" y="3956702"/>
            <a:ext cx="3854153" cy="221336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 / Test Split: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Train: 2010 – 2017 seasons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Test: 2018 – 2019 season</a:t>
            </a:r>
          </a:p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Split by season so the model is never evaluated on games that happened before its training data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57EB082-85A6-15E0-053A-31DE5575F8BC}"/>
              </a:ext>
            </a:extLst>
          </p:cNvPr>
          <p:cNvSpPr/>
          <p:nvPr/>
        </p:nvSpPr>
        <p:spPr>
          <a:xfrm>
            <a:off x="4291412" y="3956701"/>
            <a:ext cx="3854153" cy="221336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Classifiers:</a:t>
            </a:r>
          </a:p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Logistic Regression (interpretable baseline) and Random Forest (primary model), both using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class_weight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balanced</a:t>
            </a:r>
          </a:p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1060BDD-B2C2-76A8-EE1E-25178FAB8878}"/>
              </a:ext>
            </a:extLst>
          </p:cNvPr>
          <p:cNvSpPr/>
          <p:nvPr/>
        </p:nvSpPr>
        <p:spPr>
          <a:xfrm>
            <a:off x="8232446" y="3956701"/>
            <a:ext cx="3854153" cy="221336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Evaluation:</a:t>
            </a:r>
          </a:p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Precision, recall, F1, and ROC-AUC. Not raw accuracy, given roughly 1 injury-preceding game per 11 healthy ones.</a:t>
            </a:r>
          </a:p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Audio 14">
            <a:extLst>
              <a:ext uri="{FF2B5EF4-FFF2-40B4-BE49-F238E27FC236}">
                <a16:creationId xmlns:a16="http://schemas.microsoft.com/office/drawing/2014/main" id="{2EC0D8E6-02F6-238B-95B0-23A4178A7B9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5918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9472"/>
    </mc:Choice>
    <mc:Fallback>
      <p:transition spd="slow" advTm="894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C56EB9-211E-AC44-7C0F-97C984C46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82698F-2309-EEE4-CCF0-8366A3EA6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266" y="185663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BB5419-590B-630C-5266-CDD7DCAA4B4F}"/>
              </a:ext>
            </a:extLst>
          </p:cNvPr>
          <p:cNvSpPr txBox="1"/>
          <p:nvPr/>
        </p:nvSpPr>
        <p:spPr>
          <a:xfrm>
            <a:off x="197265" y="1312674"/>
            <a:ext cx="57762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Model performance on the held-out test set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25754DE-510E-202B-7ECC-16EA1D107436}"/>
              </a:ext>
            </a:extLst>
          </p:cNvPr>
          <p:cNvCxnSpPr>
            <a:cxnSpLocks/>
          </p:cNvCxnSpPr>
          <p:nvPr/>
        </p:nvCxnSpPr>
        <p:spPr>
          <a:xfrm>
            <a:off x="264919" y="1228236"/>
            <a:ext cx="11588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BEC27A5-3573-3642-648A-3BA59082715E}"/>
              </a:ext>
            </a:extLst>
          </p:cNvPr>
          <p:cNvSpPr txBox="1"/>
          <p:nvPr/>
        </p:nvSpPr>
        <p:spPr>
          <a:xfrm>
            <a:off x="6398664" y="3492207"/>
            <a:ext cx="35144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What’s driving the model’s predictions?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BAF231-1C2E-6B7E-60DE-37799FC36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386508"/>
              </p:ext>
            </p:extLst>
          </p:nvPr>
        </p:nvGraphicFramePr>
        <p:xfrm>
          <a:off x="264919" y="1611932"/>
          <a:ext cx="5708592" cy="224841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02864">
                  <a:extLst>
                    <a:ext uri="{9D8B030D-6E8A-4147-A177-3AD203B41FA5}">
                      <a16:colId xmlns:a16="http://schemas.microsoft.com/office/drawing/2014/main" val="461037342"/>
                    </a:ext>
                  </a:extLst>
                </a:gridCol>
                <a:gridCol w="1902864">
                  <a:extLst>
                    <a:ext uri="{9D8B030D-6E8A-4147-A177-3AD203B41FA5}">
                      <a16:colId xmlns:a16="http://schemas.microsoft.com/office/drawing/2014/main" val="3626975276"/>
                    </a:ext>
                  </a:extLst>
                </a:gridCol>
                <a:gridCol w="1902864">
                  <a:extLst>
                    <a:ext uri="{9D8B030D-6E8A-4147-A177-3AD203B41FA5}">
                      <a16:colId xmlns:a16="http://schemas.microsoft.com/office/drawing/2014/main" val="2615606880"/>
                    </a:ext>
                  </a:extLst>
                </a:gridCol>
              </a:tblGrid>
              <a:tr h="37473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Random Forest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366990"/>
                  </a:ext>
                </a:extLst>
              </a:tr>
              <a:tr h="374735">
                <a:tc>
                  <a:txBody>
                    <a:bodyPr/>
                    <a:lstStyle/>
                    <a:p>
                      <a:r>
                        <a:rPr lang="en-US" sz="1200" dirty="0"/>
                        <a:t>Precision (Injury class)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210988"/>
                  </a:ext>
                </a:extLst>
              </a:tr>
              <a:tr h="374735">
                <a:tc>
                  <a:txBody>
                    <a:bodyPr/>
                    <a:lstStyle/>
                    <a:p>
                      <a:r>
                        <a:rPr lang="en-US" sz="1200" dirty="0"/>
                        <a:t>Recall (Injury class)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156235"/>
                  </a:ext>
                </a:extLst>
              </a:tr>
              <a:tr h="374735">
                <a:tc>
                  <a:txBody>
                    <a:bodyPr/>
                    <a:lstStyle/>
                    <a:p>
                      <a:r>
                        <a:rPr lang="en-US" sz="1200" dirty="0"/>
                        <a:t>F1-score (Injury class)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117542"/>
                  </a:ext>
                </a:extLst>
              </a:tr>
              <a:tr h="374735">
                <a:tc>
                  <a:txBody>
                    <a:bodyPr/>
                    <a:lstStyle/>
                    <a:p>
                      <a:r>
                        <a:rPr lang="en-US" sz="1200" dirty="0"/>
                        <a:t>Overall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624875"/>
                  </a:ext>
                </a:extLst>
              </a:tr>
              <a:tr h="374735">
                <a:tc>
                  <a:txBody>
                    <a:bodyPr/>
                    <a:lstStyle/>
                    <a:p>
                      <a:r>
                        <a:rPr lang="en-US" sz="1200" dirty="0"/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0.587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85774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1F6812D-7E54-FE6A-D963-6FA9C5A33144}"/>
              </a:ext>
            </a:extLst>
          </p:cNvPr>
          <p:cNvSpPr txBox="1"/>
          <p:nvPr/>
        </p:nvSpPr>
        <p:spPr>
          <a:xfrm>
            <a:off x="264919" y="3880304"/>
            <a:ext cx="57762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Test-set positive rate: 9.0% of games precede an injury withing 7 days </a:t>
            </a:r>
            <a:b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Training-set positive rate: 8.1%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0D8A35-79CF-D9C9-F261-5D13357280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2505" y="3811422"/>
            <a:ext cx="5590684" cy="2795342"/>
          </a:xfrm>
          <a:prstGeom prst="rect">
            <a:avLst/>
          </a:prstGeom>
        </p:spPr>
      </p:pic>
      <p:pic>
        <p:nvPicPr>
          <p:cNvPr id="18" name="Audio 17">
            <a:extLst>
              <a:ext uri="{FF2B5EF4-FFF2-40B4-BE49-F238E27FC236}">
                <a16:creationId xmlns:a16="http://schemas.microsoft.com/office/drawing/2014/main" id="{EDFE8739-0AED-56BD-719F-B12CB0B18E0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92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5408"/>
    </mc:Choice>
    <mc:Fallback>
      <p:transition spd="slow" advTm="854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040407-6B3C-4193-8DB1-2FCB3D35B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A6D7D4-6511-7238-20E4-528B9880C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266" y="185663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1BF75B-AB1C-2143-A6C6-8FFD59454726}"/>
              </a:ext>
            </a:extLst>
          </p:cNvPr>
          <p:cNvSpPr txBox="1"/>
          <p:nvPr/>
        </p:nvSpPr>
        <p:spPr>
          <a:xfrm>
            <a:off x="197265" y="1312674"/>
            <a:ext cx="11588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 weak, but legitimate signal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15ADAE-335B-747E-BB7B-A03BB1D93FE1}"/>
              </a:ext>
            </a:extLst>
          </p:cNvPr>
          <p:cNvCxnSpPr>
            <a:cxnSpLocks/>
          </p:cNvCxnSpPr>
          <p:nvPr/>
        </p:nvCxnSpPr>
        <p:spPr>
          <a:xfrm>
            <a:off x="264919" y="1228236"/>
            <a:ext cx="11588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8C5548-8863-6301-7AFE-ECF11AAA6885}"/>
              </a:ext>
            </a:extLst>
          </p:cNvPr>
          <p:cNvSpPr/>
          <p:nvPr/>
        </p:nvSpPr>
        <p:spPr>
          <a:xfrm>
            <a:off x="296254" y="2637741"/>
            <a:ext cx="3466744" cy="19836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8925" indent="-288925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RQ1: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Recent workload carries detectable but weak signal (AUC 0.57 – 0.59), well below the 0.70 threshold generally considered clinically useful.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76DDC3E-127E-690C-ACE8-8A5A44A70BCC}"/>
              </a:ext>
            </a:extLst>
          </p:cNvPr>
          <p:cNvSpPr/>
          <p:nvPr/>
        </p:nvSpPr>
        <p:spPr>
          <a:xfrm>
            <a:off x="4325595" y="2637741"/>
            <a:ext cx="3466744" cy="19836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8925" indent="-288925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RQ2: 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Cumulative workload and rest patterns matter most; back-to-back scheduling contributes comparatively little.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5236AD3-EE3A-5766-B237-F5D67BBD9779}"/>
              </a:ext>
            </a:extLst>
          </p:cNvPr>
          <p:cNvSpPr/>
          <p:nvPr/>
        </p:nvSpPr>
        <p:spPr>
          <a:xfrm>
            <a:off x="8318617" y="2651924"/>
            <a:ext cx="3466744" cy="19836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8925" indent="-288925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RQ3: 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Findings reinforce the NBA’s own conclusion that schedule density has little direct link to injury.</a:t>
            </a:r>
          </a:p>
          <a:p>
            <a:pPr marL="288925" indent="-288925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8925" indent="-288925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Audio 15">
            <a:extLst>
              <a:ext uri="{FF2B5EF4-FFF2-40B4-BE49-F238E27FC236}">
                <a16:creationId xmlns:a16="http://schemas.microsoft.com/office/drawing/2014/main" id="{06656BFB-08F4-F787-EC39-97C9BAF5B48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1371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3888"/>
    </mc:Choice>
    <mc:Fallback>
      <p:transition spd="slow" advTm="738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1477</TotalTime>
  <Words>2277</Words>
  <Application>Microsoft Macintosh PowerPoint</Application>
  <PresentationFormat>Widescreen</PresentationFormat>
  <Paragraphs>137</Paragraphs>
  <Slides>7</Slides>
  <Notes>7</Notes>
  <HiddenSlides>0</HiddenSlides>
  <MMClips>7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Predicting NBA Player Injury Risk from In-Season Workload Patterns</vt:lpstr>
      <vt:lpstr>Business Problem</vt:lpstr>
      <vt:lpstr>Background</vt:lpstr>
      <vt:lpstr>Data Explanation</vt:lpstr>
      <vt:lpstr>Methods</vt:lpstr>
      <vt:lpstr>Analysis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Luera</dc:creator>
  <cp:lastModifiedBy>Leo Luera</cp:lastModifiedBy>
  <cp:revision>7</cp:revision>
  <dcterms:created xsi:type="dcterms:W3CDTF">2026-10-02T15:45:00Z</dcterms:created>
  <dcterms:modified xsi:type="dcterms:W3CDTF">2026-10-04T16:53:25Z</dcterms:modified>
</cp:coreProperties>
</file>